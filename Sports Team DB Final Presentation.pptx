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3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299DA3-BCE2-7264-0E5D-167809ED939D}" v="87" dt="2026-05-30T19:27:15.336"/>
    <p1510:client id="{4AA6AA27-81D9-6D23-68A3-91F2AAC36932}" v="100" dt="2026-05-30T20:02:44.029"/>
    <p1510:client id="{773C8895-78F7-7826-2BBB-2835BDAD761E}" v="642" dt="2026-05-30T19:27:52.007"/>
    <p1510:client id="{828EE926-2274-328D-5DC9-6D0929FAC493}" v="9" dt="2026-05-30T19:38:19.697"/>
    <p1510:client id="{B712AEA3-DE31-26D6-1AA1-938779AB1593}" v="197" dt="2026-05-30T19:24:15.7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EC9E86-94CF-4ED9-AEF1-44A8069765F6}" type="datetimeFigureOut"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7BB8AD-FEF8-4C1D-8F4B-532CE3FF68F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466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4CE66-C3D8-4D79-A411-ECB4E2C9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A4CD69-DABB-3F11-3412-160ABC8C3A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AA5DEC-3BD6-E403-A6D3-EEEC4682CC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7F2EBB-2AFB-1CFB-12A5-6E4E079032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911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C68EF-DDE3-1682-0662-123F3CADF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C30272-DD16-26D5-B3C0-6B6B58DBC7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F3FA74-F399-4756-B8AE-7C2C93BBA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FB22B-B66B-5B5E-FFD2-35D7684A4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871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>
                <a:solidFill>
                  <a:srgbClr val="00A8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OPIM-5272 · Data Management &amp; Business Process Modeling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5943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Team</a:t>
            </a:r>
            <a:endParaRPr lang="en-US" sz="400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400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>
                <a:solidFill>
                  <a:srgbClr val="02C3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Final Sprint Presentation</a:t>
            </a:r>
            <a:endParaRPr lang="en-US" sz="180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4114800" cy="3200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246120"/>
            <a:ext cx="73152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246120"/>
            <a:ext cx="384048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FFFFFF"/>
                </a:solidFill>
                <a:ea typeface="+mn-lt"/>
                <a:cs typeface="+mn-lt"/>
              </a:rPr>
              <a:t>Damir Subkhankulov</a:t>
            </a:r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3630168"/>
            <a:ext cx="4114800" cy="3200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630168"/>
            <a:ext cx="73152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630168"/>
            <a:ext cx="384048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FFFFFF"/>
                </a:solidFill>
                <a:ea typeface="+mn-lt"/>
                <a:cs typeface="+mn-lt"/>
              </a:rPr>
              <a:t>Danilo Tambone</a:t>
            </a:r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4014216"/>
            <a:ext cx="4114800" cy="3200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014216"/>
            <a:ext cx="73152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014216"/>
            <a:ext cx="384048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Vitosavero Avila Wibisono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457200" y="4617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Group 8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Our Team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477154" y="3769187"/>
            <a:ext cx="205817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4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7154" y="3769187"/>
            <a:ext cx="475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713116" y="3936530"/>
            <a:ext cx="1760028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 b="1">
                <a:solidFill>
                  <a:srgbClr val="0D1B40"/>
                </a:solidFill>
                <a:latin typeface="Calibri"/>
                <a:ea typeface="Calibri"/>
                <a:cs typeface="Calibri"/>
              </a:rPr>
              <a:t>Damir Subkhankulov</a:t>
            </a:r>
            <a:endParaRPr lang="en-US"/>
          </a:p>
        </p:txBody>
      </p:sp>
      <p:sp>
        <p:nvSpPr>
          <p:cNvPr id="30" name="Shape 2">
            <a:extLst>
              <a:ext uri="{FF2B5EF4-FFF2-40B4-BE49-F238E27FC236}">
                <a16:creationId xmlns:a16="http://schemas.microsoft.com/office/drawing/2014/main" id="{11EADF13-1D6A-DA8B-B639-F8E8CD4BF7C2}"/>
              </a:ext>
            </a:extLst>
          </p:cNvPr>
          <p:cNvSpPr/>
          <p:nvPr/>
        </p:nvSpPr>
        <p:spPr>
          <a:xfrm>
            <a:off x="3160297" y="3759500"/>
            <a:ext cx="205817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4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234AD8B9-FBD2-0DC9-476A-44BF2193C7CE}"/>
              </a:ext>
            </a:extLst>
          </p:cNvPr>
          <p:cNvSpPr/>
          <p:nvPr/>
        </p:nvSpPr>
        <p:spPr>
          <a:xfrm>
            <a:off x="3160297" y="3759500"/>
            <a:ext cx="475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/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2406A8FB-2054-6072-41D5-D323BE539981}"/>
              </a:ext>
            </a:extLst>
          </p:cNvPr>
          <p:cNvSpPr/>
          <p:nvPr/>
        </p:nvSpPr>
        <p:spPr>
          <a:xfrm>
            <a:off x="3459221" y="3936529"/>
            <a:ext cx="1450062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 b="1">
                <a:solidFill>
                  <a:srgbClr val="0D1B40"/>
                </a:solidFill>
                <a:latin typeface="Calibri"/>
                <a:ea typeface="Calibri"/>
                <a:cs typeface="Calibri"/>
              </a:rPr>
              <a:t>Danilo Tambone</a:t>
            </a:r>
            <a:endParaRPr lang="en-US"/>
          </a:p>
        </p:txBody>
      </p:sp>
      <p:sp>
        <p:nvSpPr>
          <p:cNvPr id="33" name="Shape 2">
            <a:extLst>
              <a:ext uri="{FF2B5EF4-FFF2-40B4-BE49-F238E27FC236}">
                <a16:creationId xmlns:a16="http://schemas.microsoft.com/office/drawing/2014/main" id="{A8932851-18E4-EE3A-E895-9B820EC6D4BC}"/>
              </a:ext>
            </a:extLst>
          </p:cNvPr>
          <p:cNvSpPr/>
          <p:nvPr/>
        </p:nvSpPr>
        <p:spPr>
          <a:xfrm>
            <a:off x="5862814" y="3759499"/>
            <a:ext cx="2159883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4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66EC159C-BD92-FAD2-8951-73384ECED975}"/>
              </a:ext>
            </a:extLst>
          </p:cNvPr>
          <p:cNvSpPr/>
          <p:nvPr/>
        </p:nvSpPr>
        <p:spPr>
          <a:xfrm>
            <a:off x="5664242" y="3749813"/>
            <a:ext cx="475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E40EA6C1-1DC1-3B90-1826-E48EA496B533}"/>
              </a:ext>
            </a:extLst>
          </p:cNvPr>
          <p:cNvSpPr/>
          <p:nvPr/>
        </p:nvSpPr>
        <p:spPr>
          <a:xfrm>
            <a:off x="5895360" y="3936528"/>
            <a:ext cx="2152329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 b="1">
                <a:solidFill>
                  <a:srgbClr val="0D1B40"/>
                </a:solidFill>
                <a:latin typeface="Calibri"/>
                <a:ea typeface="Calibri"/>
                <a:cs typeface="Calibri"/>
              </a:rPr>
              <a:t>Vitosavero Avila Wibisono</a:t>
            </a:r>
            <a:endParaRPr lang="en-US"/>
          </a:p>
        </p:txBody>
      </p:sp>
      <p:pic>
        <p:nvPicPr>
          <p:cNvPr id="36" name="Picture 35" descr="A person in front of a blue wall&#10;&#10;AI-generated content may be incorrect.">
            <a:extLst>
              <a:ext uri="{FF2B5EF4-FFF2-40B4-BE49-F238E27FC236}">
                <a16:creationId xmlns:a16="http://schemas.microsoft.com/office/drawing/2014/main" id="{0F804E82-0545-4D79-4395-DA7035398E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499" y="990000"/>
            <a:ext cx="2055501" cy="2596500"/>
          </a:xfrm>
          <a:prstGeom prst="rect">
            <a:avLst/>
          </a:prstGeom>
        </p:spPr>
      </p:pic>
      <p:pic>
        <p:nvPicPr>
          <p:cNvPr id="8" name="Picture 7" descr="A person with a beard and mustache wearing a brown jacket&#10;&#10;AI-generated content may be incorrect.">
            <a:extLst>
              <a:ext uri="{FF2B5EF4-FFF2-40B4-BE49-F238E27FC236}">
                <a16:creationId xmlns:a16="http://schemas.microsoft.com/office/drawing/2014/main" id="{EE4FEDE1-E18A-5686-35C4-7F2138A266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8029" y="932155"/>
            <a:ext cx="1875408" cy="2696593"/>
          </a:xfrm>
          <a:prstGeom prst="rect">
            <a:avLst/>
          </a:prstGeom>
        </p:spPr>
      </p:pic>
      <p:sp>
        <p:nvSpPr>
          <p:cNvPr id="10" name="Text 17">
            <a:extLst>
              <a:ext uri="{FF2B5EF4-FFF2-40B4-BE49-F238E27FC236}">
                <a16:creationId xmlns:a16="http://schemas.microsoft.com/office/drawing/2014/main" id="{BA6F2814-B4DE-CF96-15B2-2CFC9ED3E317}"/>
              </a:ext>
            </a:extLst>
          </p:cNvPr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000">
                <a:latin typeface="Calibri"/>
                <a:ea typeface="Calibri"/>
                <a:cs typeface="Calibri"/>
              </a:rPr>
              <a:t>2</a:t>
            </a:r>
            <a:endParaRPr lang="en-US">
              <a:ea typeface="Calibri"/>
              <a:cs typeface="Calibri"/>
            </a:endParaRPr>
          </a:p>
        </p:txBody>
      </p:sp>
      <p:pic>
        <p:nvPicPr>
          <p:cNvPr id="5" name="Picture 4" descr="A person in a suit and tie&#10;&#10;AI-generated content may be incorrect.">
            <a:extLst>
              <a:ext uri="{FF2B5EF4-FFF2-40B4-BE49-F238E27FC236}">
                <a16:creationId xmlns:a16="http://schemas.microsoft.com/office/drawing/2014/main" id="{9FD97BD0-6BC7-75FA-0364-72E6167317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8555" y="939584"/>
            <a:ext cx="1748403" cy="27025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CD2832-B9FE-68C9-692C-8B17DC4A2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BC3B592-9273-A678-D776-93D8397DD28A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40DA57F-027A-02E8-0643-78CBAA6B6CA6}"/>
              </a:ext>
            </a:extLst>
          </p:cNvPr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31C543B-F053-8352-AA79-D42E703E6786}"/>
              </a:ext>
            </a:extLst>
          </p:cNvPr>
          <p:cNvSpPr/>
          <p:nvPr/>
        </p:nvSpPr>
        <p:spPr>
          <a:xfrm>
            <a:off x="365760" y="96012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4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AD80970-B77D-5335-1FA8-5C72AFEFA673}"/>
              </a:ext>
            </a:extLst>
          </p:cNvPr>
          <p:cNvSpPr/>
          <p:nvPr/>
        </p:nvSpPr>
        <p:spPr>
          <a:xfrm>
            <a:off x="365760" y="960120"/>
            <a:ext cx="475488" cy="6583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165B88A-F160-0082-B9A4-3FC4422F96AC}"/>
              </a:ext>
            </a:extLst>
          </p:cNvPr>
          <p:cNvSpPr/>
          <p:nvPr/>
        </p:nvSpPr>
        <p:spPr>
          <a:xfrm>
            <a:off x="365760" y="960120"/>
            <a:ext cx="475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32A2C31-792D-3382-3152-3598248DFB81}"/>
              </a:ext>
            </a:extLst>
          </p:cNvPr>
          <p:cNvSpPr/>
          <p:nvPr/>
        </p:nvSpPr>
        <p:spPr>
          <a:xfrm>
            <a:off x="960120" y="9966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9C9F984-F24C-AECE-9BE1-A5FF37B59303}"/>
              </a:ext>
            </a:extLst>
          </p:cNvPr>
          <p:cNvSpPr/>
          <p:nvPr/>
        </p:nvSpPr>
        <p:spPr>
          <a:xfrm>
            <a:off x="960120" y="1307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Questions we set out to answer and the data sources used</a:t>
            </a:r>
            <a:endParaRPr lang="en-US" sz="10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B3BE922-1643-44DC-BB1C-50DB9F41E133}"/>
              </a:ext>
            </a:extLst>
          </p:cNvPr>
          <p:cNvSpPr/>
          <p:nvPr/>
        </p:nvSpPr>
        <p:spPr>
          <a:xfrm>
            <a:off x="365760" y="1746504"/>
            <a:ext cx="8412480" cy="658368"/>
          </a:xfrm>
          <a:prstGeom prst="rect">
            <a:avLst/>
          </a:prstGeom>
          <a:solidFill>
            <a:srgbClr val="E8F4F2"/>
          </a:solidFill>
          <a:ln w="12700">
            <a:solidFill>
              <a:srgbClr val="D1E8E4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E1F408F-5EA2-D4C1-0B23-918E2C44E302}"/>
              </a:ext>
            </a:extLst>
          </p:cNvPr>
          <p:cNvSpPr/>
          <p:nvPr/>
        </p:nvSpPr>
        <p:spPr>
          <a:xfrm>
            <a:off x="365760" y="1746504"/>
            <a:ext cx="475488" cy="6583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26C4ED2-D717-58C8-3F8F-B321A05AA7FC}"/>
              </a:ext>
            </a:extLst>
          </p:cNvPr>
          <p:cNvSpPr/>
          <p:nvPr/>
        </p:nvSpPr>
        <p:spPr>
          <a:xfrm>
            <a:off x="365760" y="1746504"/>
            <a:ext cx="475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EB53A08-E3A5-9021-D2CA-3DECDC818015}"/>
              </a:ext>
            </a:extLst>
          </p:cNvPr>
          <p:cNvSpPr/>
          <p:nvPr/>
        </p:nvSpPr>
        <p:spPr>
          <a:xfrm>
            <a:off x="960120" y="1783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Design</a:t>
            </a:r>
            <a:endParaRPr lang="en-US" sz="14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C093AA0-6C94-43EB-67E6-13AE38323E37}"/>
              </a:ext>
            </a:extLst>
          </p:cNvPr>
          <p:cNvSpPr/>
          <p:nvPr/>
        </p:nvSpPr>
        <p:spPr>
          <a:xfrm>
            <a:off x="960120" y="209397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Physical model, EEC hierarchy, and key design decisions</a:t>
            </a:r>
            <a:endParaRPr lang="en-US" sz="10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7F23376-95A0-997D-9AB2-F77AE6E7F989}"/>
              </a:ext>
            </a:extLst>
          </p:cNvPr>
          <p:cNvSpPr/>
          <p:nvPr/>
        </p:nvSpPr>
        <p:spPr>
          <a:xfrm>
            <a:off x="365760" y="2532888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4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34343F0-908B-78C3-F04E-AD654B6697B9}"/>
              </a:ext>
            </a:extLst>
          </p:cNvPr>
          <p:cNvSpPr/>
          <p:nvPr/>
        </p:nvSpPr>
        <p:spPr>
          <a:xfrm>
            <a:off x="365760" y="2532888"/>
            <a:ext cx="475488" cy="6583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79160F4-AFDD-B1D0-9E37-ACFD87875F5E}"/>
              </a:ext>
            </a:extLst>
          </p:cNvPr>
          <p:cNvSpPr/>
          <p:nvPr/>
        </p:nvSpPr>
        <p:spPr>
          <a:xfrm>
            <a:off x="365760" y="2532888"/>
            <a:ext cx="475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709B805-29C2-99E3-F79F-95AD9B3C3151}"/>
              </a:ext>
            </a:extLst>
          </p:cNvPr>
          <p:cNvSpPr/>
          <p:nvPr/>
        </p:nvSpPr>
        <p:spPr>
          <a:xfrm>
            <a:off x="960120" y="256946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— Live Demo</a:t>
            </a:r>
            <a:endParaRPr lang="en-US" sz="14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F6D5FCC-7052-52CD-085F-4DB88738CB64}"/>
              </a:ext>
            </a:extLst>
          </p:cNvPr>
          <p:cNvSpPr/>
          <p:nvPr/>
        </p:nvSpPr>
        <p:spPr>
          <a:xfrm>
            <a:off x="960120" y="28803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Reports 1 &amp; 3 run live in DBeaver</a:t>
            </a:r>
            <a:endParaRPr lang="en-US" sz="10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6B31B98-3AAE-B9B9-7F18-EA9EA3475653}"/>
              </a:ext>
            </a:extLst>
          </p:cNvPr>
          <p:cNvSpPr/>
          <p:nvPr/>
        </p:nvSpPr>
        <p:spPr>
          <a:xfrm>
            <a:off x="365760" y="3319272"/>
            <a:ext cx="8412480" cy="658368"/>
          </a:xfrm>
          <a:prstGeom prst="rect">
            <a:avLst/>
          </a:prstGeom>
          <a:solidFill>
            <a:srgbClr val="E8F4F2"/>
          </a:solidFill>
          <a:ln w="12700">
            <a:solidFill>
              <a:srgbClr val="D1E8E4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A0FD3E6F-2E77-21CB-30CB-BE3E2124D8B2}"/>
              </a:ext>
            </a:extLst>
          </p:cNvPr>
          <p:cNvSpPr/>
          <p:nvPr/>
        </p:nvSpPr>
        <p:spPr>
          <a:xfrm>
            <a:off x="365760" y="3319272"/>
            <a:ext cx="475488" cy="6583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77F1B8F-7825-1360-0A34-EB93D2625701}"/>
              </a:ext>
            </a:extLst>
          </p:cNvPr>
          <p:cNvSpPr/>
          <p:nvPr/>
        </p:nvSpPr>
        <p:spPr>
          <a:xfrm>
            <a:off x="365760" y="3319272"/>
            <a:ext cx="475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56F9F53-E956-2661-D810-D5D494AA131F}"/>
              </a:ext>
            </a:extLst>
          </p:cNvPr>
          <p:cNvSpPr/>
          <p:nvPr/>
        </p:nvSpPr>
        <p:spPr>
          <a:xfrm>
            <a:off x="960120" y="33558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— Overview</a:t>
            </a:r>
            <a:endParaRPr lang="en-US" sz="14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1CA8FDC-0FDF-1B95-AD15-DF64A5758558}"/>
              </a:ext>
            </a:extLst>
          </p:cNvPr>
          <p:cNvSpPr/>
          <p:nvPr/>
        </p:nvSpPr>
        <p:spPr>
          <a:xfrm>
            <a:off x="960120" y="366674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Reports 2, 4 &amp; 5 — insights and business value</a:t>
            </a:r>
            <a:endParaRPr lang="en-US" sz="100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557EE868-0331-DB98-6472-5032D6813F76}"/>
              </a:ext>
            </a:extLst>
          </p:cNvPr>
          <p:cNvSpPr/>
          <p:nvPr/>
        </p:nvSpPr>
        <p:spPr>
          <a:xfrm>
            <a:off x="365760" y="4105656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4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FF5DF8E1-7288-442E-EF3D-E5225CF16267}"/>
              </a:ext>
            </a:extLst>
          </p:cNvPr>
          <p:cNvSpPr/>
          <p:nvPr/>
        </p:nvSpPr>
        <p:spPr>
          <a:xfrm>
            <a:off x="365760" y="4105656"/>
            <a:ext cx="475488" cy="6583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12A6E81-8286-F29D-E7AD-6237644C0B5B}"/>
              </a:ext>
            </a:extLst>
          </p:cNvPr>
          <p:cNvSpPr/>
          <p:nvPr/>
        </p:nvSpPr>
        <p:spPr>
          <a:xfrm>
            <a:off x="365760" y="4105656"/>
            <a:ext cx="475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E95D2D79-76BB-518E-9CAE-2F9DAA442396}"/>
              </a:ext>
            </a:extLst>
          </p:cNvPr>
          <p:cNvSpPr/>
          <p:nvPr/>
        </p:nvSpPr>
        <p:spPr>
          <a:xfrm>
            <a:off x="960120" y="41422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33AF9A7-386E-CF6C-DB15-8D98316D3E6F}"/>
              </a:ext>
            </a:extLst>
          </p:cNvPr>
          <p:cNvSpPr/>
          <p:nvPr/>
        </p:nvSpPr>
        <p:spPr>
          <a:xfrm>
            <a:off x="960120" y="44531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Challenges, lessons learned, and one key recommendation</a:t>
            </a:r>
            <a:endParaRPr lang="en-US" sz="10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18DA3F84-F7F9-3940-3F21-7C5B206FDB4D}"/>
              </a:ext>
            </a:extLst>
          </p:cNvPr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09812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3840480"/>
          </a:xfrm>
          <a:prstGeom prst="rect">
            <a:avLst/>
          </a:prstGeom>
          <a:solidFill>
            <a:srgbClr val="F0F4F8"/>
          </a:solidFill>
          <a:ln w="12700">
            <a:solidFill>
              <a:srgbClr val="D1E8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Questions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players are at high injury risk based on workload data?</a:t>
            </a:r>
            <a:endParaRPr lang="en-US" sz="11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adequately staffed across all medical specializations?</a:t>
            </a:r>
            <a:endParaRPr lang="en-US" sz="11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surface type affect player exposure and injury rates?</a:t>
            </a:r>
            <a:endParaRPr lang="en-US" sz="11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training loads be linked to game-day performance outcomes?</a:t>
            </a:r>
            <a:endParaRPr lang="en-US" sz="110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gaps in facility utilization across the season?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023360" cy="384048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Schema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4937760" y="1463040"/>
            <a:ext cx="3474720" cy="347472"/>
          </a:xfrm>
          <a:prstGeom prst="rect">
            <a:avLst/>
          </a:prstGeom>
          <a:solidFill>
            <a:srgbClr val="1A2E5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47488" y="14630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4937760" y="1901952"/>
            <a:ext cx="3474720" cy="347472"/>
          </a:xfrm>
          <a:prstGeom prst="rect">
            <a:avLst/>
          </a:prstGeom>
          <a:solidFill>
            <a:srgbClr val="1A2E5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47488" y="19019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4937760" y="2340864"/>
            <a:ext cx="3474720" cy="347472"/>
          </a:xfrm>
          <a:prstGeom prst="rect">
            <a:avLst/>
          </a:prstGeom>
          <a:solidFill>
            <a:srgbClr val="1A2E5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47488" y="234086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/ staff / medical_staff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4937760" y="2779776"/>
            <a:ext cx="3474720" cy="347472"/>
          </a:xfrm>
          <a:prstGeom prst="rect">
            <a:avLst/>
          </a:prstGeom>
          <a:solidFill>
            <a:srgbClr val="1A2E5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47488" y="277977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· game · game_roster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4937760" y="3218688"/>
            <a:ext cx="3474720" cy="347472"/>
          </a:xfrm>
          <a:prstGeom prst="rect">
            <a:avLst/>
          </a:prstGeom>
          <a:solidFill>
            <a:srgbClr val="1A2E5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47488" y="321868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training_session · session_performance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4937760" y="3657600"/>
            <a:ext cx="3474720" cy="347472"/>
          </a:xfrm>
          <a:prstGeom prst="rect">
            <a:avLst/>
          </a:prstGeom>
          <a:solidFill>
            <a:srgbClr val="1A2E5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47488" y="3657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4937760" y="4096512"/>
            <a:ext cx="3474720" cy="347472"/>
          </a:xfrm>
          <a:prstGeom prst="rect">
            <a:avLst/>
          </a:prstGeom>
          <a:solidFill>
            <a:srgbClr val="1A2E5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409651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injury_record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MariaDB · 12 entities · 2 associative tables · 3 analytical reports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DIAGRAM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30352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5303520" cy="3931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300" i="1">
              <a:solidFill>
                <a:srgbClr val="00A896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897880" y="960120"/>
            <a:ext cx="2834640" cy="822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89320" y="1005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EEC Hierarchy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5989320" y="128930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A162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STAFF supertype → COACH &amp; MEDICAL_STAFF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0A162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(Disjoint, Partial Completeness)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5897880" y="1920240"/>
            <a:ext cx="2834640" cy="822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89320" y="19659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M:M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5989320" y="224942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A162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GAME_ROSTER and SESSION_PERFORMANCE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0A162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 associative entities with own PKs</a:t>
            </a:r>
            <a:endParaRPr lang="en-US" sz="900"/>
          </a:p>
        </p:txBody>
      </p:sp>
      <p:sp>
        <p:nvSpPr>
          <p:cNvPr id="12" name="Shape 10"/>
          <p:cNvSpPr/>
          <p:nvPr/>
        </p:nvSpPr>
        <p:spPr>
          <a:xfrm>
            <a:off x="5897880" y="2880360"/>
            <a:ext cx="2834640" cy="82296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89320" y="2926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Attribute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5989320" y="3209544"/>
            <a:ext cx="265176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>
                <a:solidFill>
                  <a:srgbClr val="F0F4F8"/>
                </a:solidFill>
                <a:latin typeface="Calibri Light"/>
                <a:ea typeface="Calibri Light"/>
                <a:cs typeface="Calibri Light"/>
              </a:rPr>
              <a:t>[Age] computed from DOB, stored only in</a:t>
            </a:r>
            <a:endParaRPr lang="en-US" sz="900">
              <a:latin typeface="Calibri Light"/>
              <a:ea typeface="Calibri Light"/>
              <a:cs typeface="Calibri Light"/>
            </a:endParaRPr>
          </a:p>
          <a:p>
            <a:pPr marL="0" indent="0">
              <a:buNone/>
            </a:pPr>
            <a:r>
              <a:rPr lang="en-US" sz="90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application layer, not in DB</a:t>
            </a:r>
            <a:endParaRPr lang="en-US" sz="900"/>
          </a:p>
        </p:txBody>
      </p:sp>
      <p:sp>
        <p:nvSpPr>
          <p:cNvPr id="15" name="Shape 13"/>
          <p:cNvSpPr/>
          <p:nvPr/>
        </p:nvSpPr>
        <p:spPr>
          <a:xfrm>
            <a:off x="5897880" y="3840480"/>
            <a:ext cx="2834640" cy="82296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89320" y="38862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Discriminator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5989320" y="416966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Role_Type in STAFF routes records to the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correct subtype without extra JOINs</a:t>
            </a:r>
            <a:endParaRPr lang="en-US" sz="900"/>
          </a:p>
        </p:txBody>
      </p:sp>
      <p:sp>
        <p:nvSpPr>
          <p:cNvPr id="18" name="Text 16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</a:t>
            </a:r>
            <a:endParaRPr lang="en-US"/>
          </a:p>
        </p:txBody>
      </p:sp>
      <p:pic>
        <p:nvPicPr>
          <p:cNvPr id="19" name="Picture 18" descr="A diagram of a company&#10;&#10;AI-generated content may be incorrect.">
            <a:extLst>
              <a:ext uri="{FF2B5EF4-FFF2-40B4-BE49-F238E27FC236}">
                <a16:creationId xmlns:a16="http://schemas.microsoft.com/office/drawing/2014/main" id="{18AADAAB-4793-09AD-9A94-D3BF2DC71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6" y="934740"/>
            <a:ext cx="4754503" cy="38891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REPORT 1 - LIVE DEMO  ·  Predictive Injury Risk Profiling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120640" cy="3931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969264"/>
            <a:ext cx="4919472" cy="38221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SELECT  </a:t>
            </a:r>
            <a:endParaRPr lang="en-US" sz="9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    CONCAT(</a:t>
            </a:r>
            <a:r>
              <a:rPr lang="en-US" sz="90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p.first_name</a:t>
            </a:r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, ' ', </a:t>
            </a:r>
            <a:r>
              <a:rPr lang="en-US" sz="90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p.last_name</a:t>
            </a:r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) AS </a:t>
            </a:r>
            <a:r>
              <a:rPr lang="en-US" sz="90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Player_Name</a:t>
            </a:r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, </a:t>
            </a:r>
            <a:endParaRPr lang="en-US" sz="9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    UPPER(</a:t>
            </a:r>
            <a:r>
              <a:rPr lang="en-US" sz="90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p.position</a:t>
            </a:r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) AS Position,</a:t>
            </a:r>
          </a:p>
          <a:p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    ROUND(AVG(</a:t>
            </a:r>
            <a:r>
              <a:rPr lang="en-US" sz="90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sp.workload_score</a:t>
            </a:r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), 0) AS </a:t>
            </a:r>
            <a:r>
              <a:rPr lang="en-US" sz="90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Avg_Workload</a:t>
            </a:r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, </a:t>
            </a:r>
            <a:endParaRPr lang="en-US" sz="9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    COALESCE(COUNT(</a:t>
            </a:r>
            <a:r>
              <a:rPr lang="en-US" sz="90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ir.injury_id</a:t>
            </a:r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), 0) AS </a:t>
            </a:r>
            <a:r>
              <a:rPr lang="en-US" sz="90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Total_Injuries</a:t>
            </a:r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,</a:t>
            </a:r>
          </a:p>
          <a:p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    COUNT(DISTINCT </a:t>
            </a:r>
            <a:r>
              <a:rPr lang="en-US" sz="90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sp.session_id</a:t>
            </a:r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) AS </a:t>
            </a:r>
            <a:r>
              <a:rPr lang="en-US" sz="90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Total_Sessions_Tracked</a:t>
            </a:r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,</a:t>
            </a:r>
            <a:endParaRPr lang="en-US" sz="9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    CASE  </a:t>
            </a:r>
            <a:endParaRPr lang="en-US" sz="9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        WHEN ROUND(AVG(</a:t>
            </a:r>
            <a:r>
              <a:rPr lang="en-US" sz="90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sp.workload_score</a:t>
            </a:r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), 0) &gt; 700 AND COUNT(</a:t>
            </a:r>
            <a:r>
              <a:rPr lang="en-US" sz="90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ir.injury_id</a:t>
            </a:r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) &gt; 0 THEN 'High Risk - Reduce Load' </a:t>
            </a:r>
            <a:endParaRPr lang="en-US" sz="9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        WHEN ROUND(AVG(</a:t>
            </a:r>
            <a:r>
              <a:rPr lang="en-US" sz="90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sp.workload_score</a:t>
            </a:r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), 0) BETWEEN 500 AND 700 THEN 'Optimal Load' </a:t>
            </a:r>
            <a:endParaRPr lang="en-US" sz="9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        ELSE 'Review Conditioning' </a:t>
            </a:r>
            <a:endParaRPr lang="en-US" sz="9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    END AS </a:t>
            </a:r>
            <a:r>
              <a:rPr lang="en-US" sz="90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Injury_Risk_Assessment</a:t>
            </a:r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 </a:t>
            </a:r>
            <a:endParaRPr lang="en-US" sz="9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FROM player p </a:t>
            </a:r>
            <a:endParaRPr lang="en-US" sz="9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JOIN </a:t>
            </a:r>
            <a:r>
              <a:rPr lang="en-US" sz="90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session_performance</a:t>
            </a:r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sp</a:t>
            </a:r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  </a:t>
            </a:r>
            <a:endParaRPr lang="en-US" sz="9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    ON </a:t>
            </a:r>
            <a:r>
              <a:rPr lang="en-US" sz="90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p.player_id</a:t>
            </a:r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 = </a:t>
            </a:r>
            <a:r>
              <a:rPr lang="en-US" sz="90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sp.player_id</a:t>
            </a:r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 </a:t>
            </a:r>
            <a:endParaRPr lang="en-US" sz="9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LEFT JOIN </a:t>
            </a:r>
            <a:r>
              <a:rPr lang="en-US" sz="90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injury_record</a:t>
            </a:r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ir</a:t>
            </a:r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  </a:t>
            </a:r>
            <a:endParaRPr lang="en-US" sz="9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    ON </a:t>
            </a:r>
            <a:r>
              <a:rPr lang="en-US" sz="90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p.player_id</a:t>
            </a:r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 = </a:t>
            </a:r>
            <a:r>
              <a:rPr lang="en-US" sz="90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ir.player_id</a:t>
            </a:r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 </a:t>
            </a:r>
            <a:endParaRPr lang="en-US" sz="9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GROUP BY  </a:t>
            </a:r>
            <a:endParaRPr lang="en-US" sz="9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    </a:t>
            </a:r>
            <a:r>
              <a:rPr lang="en-US" sz="90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p.player_id</a:t>
            </a:r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,  </a:t>
            </a:r>
            <a:endParaRPr lang="en-US" sz="9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    </a:t>
            </a:r>
            <a:r>
              <a:rPr lang="en-US" sz="90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p.first_name</a:t>
            </a:r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,  </a:t>
            </a:r>
            <a:endParaRPr lang="en-US" sz="9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    </a:t>
            </a:r>
            <a:r>
              <a:rPr lang="en-US" sz="90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p.last_name</a:t>
            </a:r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,  </a:t>
            </a:r>
            <a:endParaRPr lang="en-US" sz="9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    </a:t>
            </a:r>
            <a:r>
              <a:rPr lang="en-US" sz="90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p.position</a:t>
            </a:r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 </a:t>
            </a:r>
            <a:endParaRPr lang="en-US" sz="9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ORDER BY  </a:t>
            </a:r>
            <a:endParaRPr lang="en-US" sz="90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    </a:t>
            </a:r>
            <a:r>
              <a:rPr lang="en-US" sz="90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Avg_Workload</a:t>
            </a:r>
            <a:r>
              <a:rPr lang="en-US" sz="90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 DESC;</a:t>
            </a:r>
          </a:p>
        </p:txBody>
      </p:sp>
      <p:sp>
        <p:nvSpPr>
          <p:cNvPr id="6" name="Shape 4"/>
          <p:cNvSpPr/>
          <p:nvPr/>
        </p:nvSpPr>
        <p:spPr>
          <a:xfrm>
            <a:off x="5669280" y="960120"/>
            <a:ext cx="3108960" cy="640080"/>
          </a:xfrm>
          <a:prstGeom prst="rect">
            <a:avLst/>
          </a:prstGeom>
          <a:solidFill>
            <a:srgbClr val="F0F4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0" y="960120"/>
            <a:ext cx="64008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06440" y="99669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Tables Joined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5806440" y="126187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player → session_performance → injury_record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5669280" y="1719072"/>
            <a:ext cx="3108960" cy="640080"/>
          </a:xfrm>
          <a:prstGeom prst="rect">
            <a:avLst/>
          </a:prstGeom>
          <a:solidFill>
            <a:srgbClr val="F0F4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1719072"/>
            <a:ext cx="64008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06440" y="175564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Function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5806440" y="2020824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ROUND(AVG(workload_score), 0)</a:t>
            </a:r>
            <a:endParaRPr lang="en-US" sz="900"/>
          </a:p>
        </p:txBody>
      </p:sp>
      <p:sp>
        <p:nvSpPr>
          <p:cNvPr id="14" name="Shape 12"/>
          <p:cNvSpPr/>
          <p:nvPr/>
        </p:nvSpPr>
        <p:spPr>
          <a:xfrm>
            <a:off x="5669280" y="2478024"/>
            <a:ext cx="3108960" cy="640080"/>
          </a:xfrm>
          <a:prstGeom prst="rect">
            <a:avLst/>
          </a:prstGeom>
          <a:solidFill>
            <a:srgbClr val="F0F4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0" y="2478024"/>
            <a:ext cx="64008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251460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Risk Tiers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5806440" y="2779776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High Risk / Optimal Load / Review Conditioning</a:t>
            </a:r>
            <a:endParaRPr lang="en-US" sz="900"/>
          </a:p>
        </p:txBody>
      </p:sp>
      <p:sp>
        <p:nvSpPr>
          <p:cNvPr id="18" name="Shape 16"/>
          <p:cNvSpPr/>
          <p:nvPr/>
        </p:nvSpPr>
        <p:spPr>
          <a:xfrm>
            <a:off x="5669280" y="3236976"/>
            <a:ext cx="3108960" cy="640080"/>
          </a:xfrm>
          <a:prstGeom prst="rect">
            <a:avLst/>
          </a:prstGeom>
          <a:solidFill>
            <a:srgbClr val="F0F4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0" y="3236976"/>
            <a:ext cx="64008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06440" y="32735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5806440" y="353872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AVG · COUNT · COALESCE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5669280" y="3995928"/>
            <a:ext cx="3108960" cy="640080"/>
          </a:xfrm>
          <a:prstGeom prst="rect">
            <a:avLst/>
          </a:prstGeom>
          <a:solidFill>
            <a:srgbClr val="F0F4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0" y="3995928"/>
            <a:ext cx="64008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403250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Single-Row Fns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5806440" y="429768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CONCAT · UPPER · ROUND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6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REPORT 3 - LIVE DEMO  ·  Player Surface Exposure &amp; Game Minute Distribution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120640" cy="3931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969264"/>
            <a:ext cx="4919472" cy="38221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buNone/>
            </a:pPr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SELECT</a:t>
            </a:r>
          </a:p>
          <a:p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    UPPER(</a:t>
            </a:r>
            <a:r>
              <a:rPr lang="en-US" sz="75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f.surface_type</a:t>
            </a:r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)                        AS </a:t>
            </a:r>
            <a:r>
              <a:rPr lang="en-US" sz="75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Field_Surface</a:t>
            </a:r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,</a:t>
            </a:r>
          </a:p>
          <a:p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    LEFT(</a:t>
            </a:r>
            <a:r>
              <a:rPr lang="en-US" sz="75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p.position</a:t>
            </a:r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, 3)                          AS </a:t>
            </a:r>
            <a:r>
              <a:rPr lang="en-US" sz="75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Pos_Code</a:t>
            </a:r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,</a:t>
            </a:r>
          </a:p>
          <a:p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    CONCAT(</a:t>
            </a:r>
            <a:r>
              <a:rPr lang="en-US" sz="75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p.first_name</a:t>
            </a:r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, ' ', </a:t>
            </a:r>
            <a:r>
              <a:rPr lang="en-US" sz="75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p.last_name</a:t>
            </a:r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)       AS </a:t>
            </a:r>
            <a:r>
              <a:rPr lang="en-US" sz="75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Player_Name</a:t>
            </a:r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,</a:t>
            </a:r>
          </a:p>
          <a:p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    COUNT(</a:t>
            </a:r>
            <a:r>
              <a:rPr lang="en-US" sz="75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gr.roster_id</a:t>
            </a:r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)                          AS </a:t>
            </a:r>
            <a:r>
              <a:rPr lang="en-US" sz="75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Total_Games_Played</a:t>
            </a:r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,</a:t>
            </a:r>
          </a:p>
          <a:p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    SUM(</a:t>
            </a:r>
            <a:r>
              <a:rPr lang="en-US" sz="75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gr.minutes_played</a:t>
            </a:r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)                       AS </a:t>
            </a:r>
            <a:r>
              <a:rPr lang="en-US" sz="75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Total_Minutes_Played</a:t>
            </a:r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,</a:t>
            </a:r>
          </a:p>
          <a:p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    ROUND(AVG(</a:t>
            </a:r>
            <a:r>
              <a:rPr lang="en-US" sz="75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gr.minutes_played</a:t>
            </a:r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), 0)             AS </a:t>
            </a:r>
            <a:r>
              <a:rPr lang="en-US" sz="75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Avg_Minutes_Per_Game</a:t>
            </a:r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,</a:t>
            </a:r>
          </a:p>
          <a:p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    CASE</a:t>
            </a:r>
          </a:p>
          <a:p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        WHEN UPPER(</a:t>
            </a:r>
            <a:r>
              <a:rPr lang="en-US" sz="75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f.surface_type</a:t>
            </a:r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) = 'TURF' </a:t>
            </a:r>
            <a:endParaRPr lang="en-US" sz="7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             AND SUM(</a:t>
            </a:r>
            <a:r>
              <a:rPr lang="en-US" sz="75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gr.minutes_played</a:t>
            </a:r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) &gt; 300 THEN 'High Exposure Risk'</a:t>
            </a:r>
          </a:p>
          <a:p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        WHEN UPPER(</a:t>
            </a:r>
            <a:r>
              <a:rPr lang="en-US" sz="75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f.surface_type</a:t>
            </a:r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) = 'TURF' </a:t>
            </a:r>
            <a:endParaRPr lang="en-US" sz="750">
              <a:solidFill>
                <a:schemeClr val="bg1"/>
              </a:solidFill>
              <a:latin typeface="Courier New"/>
              <a:ea typeface="Calibri"/>
              <a:cs typeface="Courier New"/>
            </a:endParaRPr>
          </a:p>
          <a:p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             AND SUM(</a:t>
            </a:r>
            <a:r>
              <a:rPr lang="en-US" sz="75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gr.minutes_played</a:t>
            </a:r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) BETWEEN 100 AND 300 THEN 'Moderate Exposure Risk'</a:t>
            </a:r>
          </a:p>
          <a:p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        ELSE 'Acceptable Exposure'</a:t>
            </a:r>
          </a:p>
          <a:p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    END                                          AS </a:t>
            </a:r>
            <a:r>
              <a:rPr lang="en-US" sz="75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Surface_Exposure_Assessment</a:t>
            </a:r>
            <a:endParaRPr lang="en-US" sz="750">
              <a:solidFill>
                <a:schemeClr val="bg1"/>
              </a:solidFill>
              <a:latin typeface="Courier New"/>
              <a:ea typeface="+mn-lt"/>
              <a:cs typeface="Courier New"/>
            </a:endParaRPr>
          </a:p>
          <a:p>
            <a:pPr>
              <a:buNone/>
            </a:pPr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FROM player p</a:t>
            </a:r>
          </a:p>
          <a:p>
            <a:pPr>
              <a:buNone/>
            </a:pPr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JOIN </a:t>
            </a:r>
            <a:r>
              <a:rPr lang="en-US" sz="75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game_roster</a:t>
            </a:r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 gr</a:t>
            </a:r>
          </a:p>
          <a:p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    ON </a:t>
            </a:r>
            <a:r>
              <a:rPr lang="en-US" sz="75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p.player_id</a:t>
            </a:r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 = </a:t>
            </a:r>
            <a:r>
              <a:rPr lang="en-US" sz="75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gr.player_id</a:t>
            </a:r>
            <a:endParaRPr lang="en-US" sz="750">
              <a:solidFill>
                <a:schemeClr val="bg1"/>
              </a:solidFill>
              <a:latin typeface="Courier New"/>
              <a:ea typeface="+mn-lt"/>
              <a:cs typeface="Courier New"/>
            </a:endParaRPr>
          </a:p>
          <a:p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JOIN game g</a:t>
            </a:r>
          </a:p>
          <a:p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    ON </a:t>
            </a:r>
            <a:r>
              <a:rPr lang="en-US" sz="75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gr.game_id</a:t>
            </a:r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 = </a:t>
            </a:r>
            <a:r>
              <a:rPr lang="en-US" sz="75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g.game_id</a:t>
            </a:r>
            <a:endParaRPr lang="en-US" sz="750">
              <a:solidFill>
                <a:schemeClr val="bg1"/>
              </a:solidFill>
              <a:latin typeface="Courier New"/>
              <a:ea typeface="+mn-lt"/>
              <a:cs typeface="Courier New"/>
            </a:endParaRPr>
          </a:p>
          <a:p>
            <a:pPr>
              <a:buNone/>
            </a:pPr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JOIN facility f</a:t>
            </a:r>
          </a:p>
          <a:p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    ON </a:t>
            </a:r>
            <a:r>
              <a:rPr lang="en-US" sz="75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g.facility_id</a:t>
            </a:r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 = </a:t>
            </a:r>
            <a:r>
              <a:rPr lang="en-US" sz="75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f.facility_id</a:t>
            </a:r>
            <a:endParaRPr lang="en-US" sz="750">
              <a:solidFill>
                <a:schemeClr val="bg1"/>
              </a:solidFill>
              <a:latin typeface="Courier New"/>
              <a:ea typeface="+mn-lt"/>
              <a:cs typeface="Courier New"/>
            </a:endParaRPr>
          </a:p>
          <a:p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GROUP BY</a:t>
            </a:r>
          </a:p>
          <a:p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    </a:t>
            </a:r>
            <a:r>
              <a:rPr lang="en-US" sz="75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f.surface_type</a:t>
            </a:r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,</a:t>
            </a:r>
          </a:p>
          <a:p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    </a:t>
            </a:r>
            <a:r>
              <a:rPr lang="en-US" sz="75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p.player_id</a:t>
            </a:r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,</a:t>
            </a:r>
          </a:p>
          <a:p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    </a:t>
            </a:r>
            <a:r>
              <a:rPr lang="en-US" sz="75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p.first_name</a:t>
            </a:r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,</a:t>
            </a:r>
          </a:p>
          <a:p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    </a:t>
            </a:r>
            <a:r>
              <a:rPr lang="en-US" sz="75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p.last_name</a:t>
            </a:r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,</a:t>
            </a:r>
          </a:p>
          <a:p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    </a:t>
            </a:r>
            <a:r>
              <a:rPr lang="en-US" sz="75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p.position</a:t>
            </a:r>
            <a:endParaRPr lang="en-US" sz="750">
              <a:solidFill>
                <a:schemeClr val="bg1"/>
              </a:solidFill>
              <a:latin typeface="Courier New"/>
              <a:ea typeface="+mn-lt"/>
              <a:cs typeface="Courier New"/>
            </a:endParaRPr>
          </a:p>
          <a:p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ORDER BY</a:t>
            </a:r>
          </a:p>
          <a:p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    </a:t>
            </a:r>
            <a:r>
              <a:rPr lang="en-US" sz="75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f.surface_type</a:t>
            </a:r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 ASC,</a:t>
            </a:r>
          </a:p>
          <a:p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    </a:t>
            </a:r>
            <a:r>
              <a:rPr lang="en-US" sz="750" err="1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Total_Minutes_Played</a:t>
            </a:r>
            <a:r>
              <a:rPr lang="en-US" sz="750">
                <a:solidFill>
                  <a:schemeClr val="bg1"/>
                </a:solidFill>
                <a:latin typeface="Courier New"/>
                <a:ea typeface="+mn-lt"/>
                <a:cs typeface="Courier New"/>
              </a:rPr>
              <a:t> DESC;</a:t>
            </a:r>
          </a:p>
        </p:txBody>
      </p:sp>
      <p:sp>
        <p:nvSpPr>
          <p:cNvPr id="6" name="Shape 4"/>
          <p:cNvSpPr/>
          <p:nvPr/>
        </p:nvSpPr>
        <p:spPr>
          <a:xfrm>
            <a:off x="5669280" y="960120"/>
            <a:ext cx="3108960" cy="640080"/>
          </a:xfrm>
          <a:prstGeom prst="rect">
            <a:avLst/>
          </a:prstGeom>
          <a:solidFill>
            <a:srgbClr val="F0F4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0" y="960120"/>
            <a:ext cx="64008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06440" y="99669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Tables Joined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5806440" y="126187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player → game_roster → game → facility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5669280" y="1719072"/>
            <a:ext cx="3108960" cy="640080"/>
          </a:xfrm>
          <a:prstGeom prst="rect">
            <a:avLst/>
          </a:prstGeom>
          <a:solidFill>
            <a:srgbClr val="F0F4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1719072"/>
            <a:ext cx="64008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06440" y="175564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Function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5806440" y="2020824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ROUND(AVG(minutes_played), 0)</a:t>
            </a:r>
            <a:endParaRPr lang="en-US" sz="900"/>
          </a:p>
        </p:txBody>
      </p:sp>
      <p:sp>
        <p:nvSpPr>
          <p:cNvPr id="14" name="Shape 12"/>
          <p:cNvSpPr/>
          <p:nvPr/>
        </p:nvSpPr>
        <p:spPr>
          <a:xfrm>
            <a:off x="5669280" y="2478024"/>
            <a:ext cx="3108960" cy="640080"/>
          </a:xfrm>
          <a:prstGeom prst="rect">
            <a:avLst/>
          </a:prstGeom>
          <a:solidFill>
            <a:srgbClr val="F0F4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0" y="2478024"/>
            <a:ext cx="64008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251460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Tiers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5806440" y="2779776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High / Moderate / Acceptable Exposure</a:t>
            </a:r>
            <a:endParaRPr lang="en-US" sz="900"/>
          </a:p>
        </p:txBody>
      </p:sp>
      <p:sp>
        <p:nvSpPr>
          <p:cNvPr id="18" name="Shape 16"/>
          <p:cNvSpPr/>
          <p:nvPr/>
        </p:nvSpPr>
        <p:spPr>
          <a:xfrm>
            <a:off x="5669280" y="3236976"/>
            <a:ext cx="3108960" cy="640080"/>
          </a:xfrm>
          <a:prstGeom prst="rect">
            <a:avLst/>
          </a:prstGeom>
          <a:solidFill>
            <a:srgbClr val="F0F4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0" y="3236976"/>
            <a:ext cx="64008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06440" y="32735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5806440" y="353872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COUNT · SUM · AVG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5669280" y="3995928"/>
            <a:ext cx="3108960" cy="640080"/>
          </a:xfrm>
          <a:prstGeom prst="rect">
            <a:avLst/>
          </a:prstGeom>
          <a:solidFill>
            <a:srgbClr val="F0F4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0" y="3995928"/>
            <a:ext cx="64008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403250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Single-Row Fns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5806440" y="429768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UPPER · CONCAT · ROUND · LEFT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7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— ANALYTICAL OVERVIEW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4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548640" cy="1188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548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1005840" y="98755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Staff Specialization Capacity &amp; Distribution Audit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1005840" y="1307592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Groups practitioners by specialization, surfaces headcount per discipline, flags single-point-of-failure gaps, and lists all practitioners via GROUP_CONCAT.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1005840" y="166420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Are we compliant? Where are staffing shortfalls before they become crises?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320040" y="2267712"/>
            <a:ext cx="8503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4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267712"/>
            <a:ext cx="548640" cy="118872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67712"/>
            <a:ext cx="548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1005840" y="2340864"/>
            <a:ext cx="758952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b="1">
                <a:solidFill>
                  <a:srgbClr val="0D1B40"/>
                </a:solidFill>
                <a:latin typeface="Calibri"/>
                <a:ea typeface="Calibri"/>
                <a:cs typeface="Calibri"/>
              </a:rPr>
              <a:t>Training Session Effectiveness by Coach — Coach Session Load Analysis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05840" y="2660904"/>
            <a:ext cx="758952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>
                <a:solidFill>
                  <a:srgbClr val="64748B"/>
                </a:solidFill>
                <a:latin typeface="Calibri Light"/>
                <a:ea typeface="Calibri Light"/>
                <a:cs typeface="Calibri Light"/>
              </a:rPr>
              <a:t>Average player workload, 4 tables involved (staff, coach, training session, session performance), AVG, CONCAT, and single-row functions used.</a:t>
            </a:r>
          </a:p>
        </p:txBody>
      </p:sp>
      <p:sp>
        <p:nvSpPr>
          <p:cNvPr id="15" name="Text 13"/>
          <p:cNvSpPr/>
          <p:nvPr/>
        </p:nvSpPr>
        <p:spPr>
          <a:xfrm>
            <a:off x="1005840" y="3017520"/>
            <a:ext cx="758952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i="1">
                <a:solidFill>
                  <a:srgbClr val="0D1B40"/>
                </a:solidFill>
                <a:ea typeface="Calibri"/>
                <a:cs typeface="Calibri"/>
              </a:rPr>
              <a:t>Answers: Are we hitting the right training intensity? Are different coaches over or under load players?</a:t>
            </a:r>
          </a:p>
        </p:txBody>
      </p:sp>
      <p:sp>
        <p:nvSpPr>
          <p:cNvPr id="16" name="Shape 14"/>
          <p:cNvSpPr/>
          <p:nvPr/>
        </p:nvSpPr>
        <p:spPr>
          <a:xfrm>
            <a:off x="320040" y="3621024"/>
            <a:ext cx="8503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4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621024"/>
            <a:ext cx="548640" cy="11887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621024"/>
            <a:ext cx="548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1005840" y="3694176"/>
            <a:ext cx="758952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b="1">
                <a:solidFill>
                  <a:srgbClr val="0D1B40"/>
                </a:solidFill>
                <a:ea typeface="Calibri"/>
                <a:cs typeface="Calibri"/>
              </a:rPr>
              <a:t>Player Performance Trends by Season</a:t>
            </a:r>
          </a:p>
        </p:txBody>
      </p:sp>
      <p:sp>
        <p:nvSpPr>
          <p:cNvPr id="20" name="Text 18"/>
          <p:cNvSpPr/>
          <p:nvPr/>
        </p:nvSpPr>
        <p:spPr>
          <a:xfrm>
            <a:off x="1005840" y="4014216"/>
            <a:ext cx="758952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err="1">
                <a:solidFill>
                  <a:srgbClr val="64748B"/>
                </a:solidFill>
                <a:latin typeface="Calibri Light"/>
                <a:ea typeface="Calibri Light"/>
                <a:cs typeface="Calibri Light"/>
              </a:rPr>
              <a:t>Seasona</a:t>
            </a:r>
            <a:r>
              <a:rPr lang="en-US" sz="1000">
                <a:solidFill>
                  <a:srgbClr val="64748B"/>
                </a:solidFill>
                <a:latin typeface="Calibri Light"/>
                <a:ea typeface="Calibri Light"/>
                <a:cs typeface="Calibri Light"/>
              </a:rPr>
              <a:t>l player output, each game, total minutes and average training workload. Classification of players. 5 tables involved (player, </a:t>
            </a:r>
            <a:r>
              <a:rPr lang="en-US" sz="1000" err="1">
                <a:solidFill>
                  <a:srgbClr val="64748B"/>
                </a:solidFill>
                <a:latin typeface="Calibri Light"/>
                <a:ea typeface="Calibri Light"/>
                <a:cs typeface="Calibri Light"/>
              </a:rPr>
              <a:t>session_performance</a:t>
            </a:r>
            <a:r>
              <a:rPr lang="en-US" sz="1000">
                <a:solidFill>
                  <a:srgbClr val="64748B"/>
                </a:solidFill>
                <a:latin typeface="Calibri Light"/>
                <a:ea typeface="Calibri Light"/>
                <a:cs typeface="Calibri Light"/>
              </a:rPr>
              <a:t>, training session, season, game roaster, game)</a:t>
            </a:r>
          </a:p>
        </p:txBody>
      </p:sp>
      <p:sp>
        <p:nvSpPr>
          <p:cNvPr id="21" name="Text 19"/>
          <p:cNvSpPr/>
          <p:nvPr/>
        </p:nvSpPr>
        <p:spPr>
          <a:xfrm>
            <a:off x="1005840" y="4370832"/>
            <a:ext cx="758952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i="1">
                <a:solidFill>
                  <a:srgbClr val="1A3A5C"/>
                </a:solidFill>
                <a:ea typeface="Calibri"/>
                <a:cs typeface="Calibri"/>
              </a:rPr>
              <a:t>Answers: Are our player improving each season? Can we manage player contract using these statistics? </a:t>
            </a:r>
          </a:p>
        </p:txBody>
      </p:sp>
      <p:sp>
        <p:nvSpPr>
          <p:cNvPr id="22" name="Text 20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  <a:ea typeface="Calibri"/>
                <a:cs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/>
          </a:p>
        </p:txBody>
      </p:sp>
      <p:sp>
        <p:nvSpPr>
          <p:cNvPr id="5" name="Text 3"/>
          <p:cNvSpPr/>
          <p:nvPr/>
        </p:nvSpPr>
        <p:spPr>
          <a:xfrm>
            <a:off x="457200" y="8881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457200" y="1353312"/>
            <a:ext cx="8229600" cy="1143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rgbClr val="F0F4F8"/>
                </a:solidFill>
                <a:ea typeface="+mn-lt"/>
                <a:cs typeface="+mn-lt"/>
              </a:rPr>
              <a:t>EEC Boundary  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sz="1100">
              <a:solidFill>
                <a:srgbClr val="F0F4F8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rgbClr val="F0F4F8"/>
                </a:solidFill>
                <a:ea typeface="+mn-lt"/>
                <a:cs typeface="+mn-lt"/>
              </a:rPr>
              <a:t>Complex joins, aggregates, and CASE logic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 sz="1100">
              <a:solidFill>
                <a:srgbClr val="F0F4F8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rgbClr val="F0F4F8"/>
                </a:solidFill>
                <a:ea typeface="+mn-lt"/>
                <a:cs typeface="+mn-lt"/>
              </a:rPr>
              <a:t>Database integrity across all entities </a:t>
            </a:r>
            <a:endParaRPr lang="en-US">
              <a:ea typeface="+mn-lt"/>
              <a:cs typeface="+mn-lt"/>
            </a:endParaRPr>
          </a:p>
          <a:p>
            <a:pPr>
              <a:spcAft>
                <a:spcPts val="500"/>
              </a:spcAft>
            </a:pPr>
            <a:endParaRPr lang="en-US" sz="1100">
              <a:solidFill>
                <a:srgbClr val="F0F4F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5760" y="2579760"/>
            <a:ext cx="8412480" cy="12290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57191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KEY RECOMMENDATION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548640" y="2424240"/>
            <a:ext cx="8046720" cy="15811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endParaRPr lang="en-US" sz="1000" b="1">
              <a:solidFill>
                <a:srgbClr val="0A1628"/>
              </a:solidFill>
              <a:ea typeface="+mn-lt"/>
              <a:cs typeface="+mn-lt"/>
            </a:endParaRPr>
          </a:p>
          <a:p>
            <a:endParaRPr lang="en-US" sz="1000" b="1">
              <a:solidFill>
                <a:srgbClr val="0A1628"/>
              </a:solidFill>
              <a:ea typeface="+mn-lt"/>
              <a:cs typeface="+mn-lt"/>
            </a:endParaRPr>
          </a:p>
          <a:p>
            <a:r>
              <a:rPr lang="en-US" sz="1000" b="1">
                <a:solidFill>
                  <a:srgbClr val="0A1628"/>
                </a:solidFill>
                <a:ea typeface="+mn-lt"/>
                <a:cs typeface="+mn-lt"/>
              </a:rPr>
              <a:t>Add a CONTRACT table linked to PLAYER</a:t>
            </a:r>
            <a:endParaRPr lang="en-US" b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sz="1000">
              <a:solidFill>
                <a:srgbClr val="0A1628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000">
                <a:solidFill>
                  <a:srgbClr val="0A1628"/>
                </a:solidFill>
                <a:ea typeface="+mn-lt"/>
                <a:cs typeface="+mn-lt"/>
              </a:rPr>
              <a:t>Track salary and contract duration 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000">
                <a:solidFill>
                  <a:srgbClr val="0A1628"/>
                </a:solidFill>
                <a:ea typeface="+mn-lt"/>
                <a:cs typeface="+mn-lt"/>
              </a:rPr>
              <a:t>Measure financial impact of injuries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000">
                <a:solidFill>
                  <a:srgbClr val="0A1628"/>
                </a:solidFill>
                <a:ea typeface="+mn-lt"/>
                <a:cs typeface="+mn-lt"/>
              </a:rPr>
              <a:t>Support roster and budget planning</a:t>
            </a:r>
            <a:endParaRPr lang="en-US"/>
          </a:p>
          <a:p>
            <a:pPr marL="0" indent="0">
              <a:buNone/>
            </a:pPr>
            <a:endParaRPr lang="en-US" sz="1000">
              <a:solidFill>
                <a:srgbClr val="0A1628"/>
              </a:solidFill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  <a:endParaRPr lang="en-US" sz="1000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472CE0FE-BBEB-327B-0382-FC169CEB88B2}"/>
              </a:ext>
            </a:extLst>
          </p:cNvPr>
          <p:cNvSpPr/>
          <p:nvPr/>
        </p:nvSpPr>
        <p:spPr>
          <a:xfrm>
            <a:off x="545759" y="4064760"/>
            <a:ext cx="8412480" cy="6890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30EAC3-1952-C1D0-6994-323FCD402685}"/>
              </a:ext>
            </a:extLst>
          </p:cNvPr>
          <p:cNvSpPr txBox="1"/>
          <p:nvPr/>
        </p:nvSpPr>
        <p:spPr>
          <a:xfrm>
            <a:off x="544499" y="4144500"/>
            <a:ext cx="33525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b="1">
                <a:ea typeface="+mn-lt"/>
                <a:cs typeface="+mn-lt"/>
              </a:rPr>
              <a:t>• 12 Entities </a:t>
            </a:r>
            <a:endParaRPr lang="en-US" sz="1000">
              <a:ea typeface="+mn-lt"/>
              <a:cs typeface="+mn-lt"/>
            </a:endParaRPr>
          </a:p>
          <a:p>
            <a:r>
              <a:rPr lang="en-US" sz="1000" b="1">
                <a:ea typeface="+mn-lt"/>
                <a:cs typeface="+mn-lt"/>
              </a:rPr>
              <a:t>• 2 Associative Tables </a:t>
            </a:r>
            <a:endParaRPr lang="en-US" sz="1000">
              <a:ea typeface="+mn-lt"/>
              <a:cs typeface="+mn-lt"/>
            </a:endParaRPr>
          </a:p>
          <a:p>
            <a:r>
              <a:rPr lang="en-US" sz="1000" b="1">
                <a:ea typeface="+mn-lt"/>
                <a:cs typeface="+mn-lt"/>
              </a:rPr>
              <a:t>• 5 Analytical Reports</a:t>
            </a:r>
            <a:endParaRPr lang="en-US" sz="1000">
              <a:ea typeface="Calibri"/>
              <a:cs typeface="Calibri"/>
            </a:endParaRPr>
          </a:p>
          <a:p>
            <a:pPr algn="l"/>
            <a:endParaRPr lang="en-US" sz="10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1CFAAD-62E3-6D12-EAA3-8B5E4DB4D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148B078-3503-0830-B232-D802AFAE9AEB}"/>
              </a:ext>
            </a:extLst>
          </p:cNvPr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>
                <a:alpha val="1500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5847C4A-4F38-4BE6-DBB5-06543B58AA4B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8F06074-78FA-7CA1-8BD3-66E88DE5AFB0}"/>
              </a:ext>
            </a:extLst>
          </p:cNvPr>
          <p:cNvSpPr/>
          <p:nvPr/>
        </p:nvSpPr>
        <p:spPr>
          <a:xfrm>
            <a:off x="3624666" y="2319244"/>
            <a:ext cx="1897574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Thank You</a:t>
            </a:r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306A60C-5325-3780-18A0-60E13F4D87EF}"/>
              </a:ext>
            </a:extLst>
          </p:cNvPr>
          <p:cNvSpPr/>
          <p:nvPr/>
        </p:nvSpPr>
        <p:spPr>
          <a:xfrm>
            <a:off x="859536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142440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10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Sports Team Management System — Final Presentation</dc:title>
  <dc:subject>PptxGenJS Presentation</dc:subject>
  <dc:creator>PptxGenJS</dc:creator>
  <cp:revision>2</cp:revision>
  <dcterms:created xsi:type="dcterms:W3CDTF">2026-05-30T13:19:09Z</dcterms:created>
  <dcterms:modified xsi:type="dcterms:W3CDTF">2026-06-10T17:10:08Z</dcterms:modified>
</cp:coreProperties>
</file>